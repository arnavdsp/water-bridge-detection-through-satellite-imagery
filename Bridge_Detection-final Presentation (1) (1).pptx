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7540CA-7C26-4AB2-AA3E-5F6278ADA6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58632C-4775-4661-97ED-6097FE79AE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10DE23-06C0-4AA9-862D-BBF0EE34D9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382B3D-79F5-4EB5-B671-E9023ED0AD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3E0027-E18E-4CDE-8C42-92CEDC27BF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8354FA-11D1-44A1-870A-DE262E09FE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623821-55F5-40E1-A0C6-E7ACA534BC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48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026325E-A235-4C69-8B3C-651B95C112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F8E96F-09BC-4617-BCDD-6490B8A666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E2F3D3-8AAA-4914-8ED6-1C6D80B3F2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688C7D-D111-43D6-BF96-3473649DBC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pan.baidu.com/s/1tXpFukMkOGHXPsSKPRRf3w?pwd=4zgx#list/path=%2Fsharelink1874129844-404851074503124%2FGLH-Bridge&amp;parentPath=%2Fsharelink1874129844-404851074503124" TargetMode="External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164520" y="6217920"/>
            <a:ext cx="12022920" cy="63864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828800" y="109728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3657600" y="109728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5486400" y="109728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7315200" y="109728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9144000" y="109728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9"/>
          <p:cNvSpPr/>
          <p:nvPr/>
        </p:nvSpPr>
        <p:spPr>
          <a:xfrm>
            <a:off x="1828800" y="219456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10"/>
          <p:cNvSpPr/>
          <p:nvPr/>
        </p:nvSpPr>
        <p:spPr>
          <a:xfrm>
            <a:off x="3657600" y="219456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11"/>
          <p:cNvSpPr/>
          <p:nvPr/>
        </p:nvSpPr>
        <p:spPr>
          <a:xfrm>
            <a:off x="5486400" y="219456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7315200" y="219456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3"/>
          <p:cNvSpPr/>
          <p:nvPr/>
        </p:nvSpPr>
        <p:spPr>
          <a:xfrm>
            <a:off x="9144000" y="219456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15"/>
          <p:cNvSpPr/>
          <p:nvPr/>
        </p:nvSpPr>
        <p:spPr>
          <a:xfrm>
            <a:off x="1828800" y="329184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16"/>
          <p:cNvSpPr/>
          <p:nvPr/>
        </p:nvSpPr>
        <p:spPr>
          <a:xfrm>
            <a:off x="3657600" y="329184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17"/>
          <p:cNvSpPr/>
          <p:nvPr/>
        </p:nvSpPr>
        <p:spPr>
          <a:xfrm>
            <a:off x="5486400" y="329184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8"/>
          <p:cNvSpPr/>
          <p:nvPr/>
        </p:nvSpPr>
        <p:spPr>
          <a:xfrm>
            <a:off x="7315200" y="329184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19"/>
          <p:cNvSpPr/>
          <p:nvPr/>
        </p:nvSpPr>
        <p:spPr>
          <a:xfrm>
            <a:off x="9144000" y="329184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21"/>
          <p:cNvSpPr/>
          <p:nvPr/>
        </p:nvSpPr>
        <p:spPr>
          <a:xfrm>
            <a:off x="1828800" y="438912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22"/>
          <p:cNvSpPr/>
          <p:nvPr/>
        </p:nvSpPr>
        <p:spPr>
          <a:xfrm>
            <a:off x="3657600" y="438912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3"/>
          <p:cNvSpPr/>
          <p:nvPr/>
        </p:nvSpPr>
        <p:spPr>
          <a:xfrm>
            <a:off x="5486400" y="438912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4"/>
          <p:cNvSpPr/>
          <p:nvPr/>
        </p:nvSpPr>
        <p:spPr>
          <a:xfrm>
            <a:off x="7315200" y="438912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25"/>
          <p:cNvSpPr/>
          <p:nvPr/>
        </p:nvSpPr>
        <p:spPr>
          <a:xfrm>
            <a:off x="9144000" y="4389120"/>
            <a:ext cx="1553040" cy="1004400"/>
          </a:xfrm>
          <a:prstGeom prst="rect">
            <a:avLst/>
          </a:prstGeom>
          <a:solidFill>
            <a:srgbClr val="0d2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7"/>
          <p:cNvSpPr/>
          <p:nvPr/>
        </p:nvSpPr>
        <p:spPr>
          <a:xfrm>
            <a:off x="502920" y="1371600"/>
            <a:ext cx="10971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OBJECT DETECTION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8"/>
          <p:cNvSpPr/>
          <p:nvPr/>
        </p:nvSpPr>
        <p:spPr>
          <a:xfrm>
            <a:off x="502920" y="2331720"/>
            <a:ext cx="10971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from Airborne &amp; Space-borne Images (Water Bridges)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29"/>
          <p:cNvSpPr/>
          <p:nvPr/>
        </p:nvSpPr>
        <p:spPr>
          <a:xfrm>
            <a:off x="502920" y="3063240"/>
            <a:ext cx="5027760" cy="4428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30"/>
          <p:cNvSpPr/>
          <p:nvPr/>
        </p:nvSpPr>
        <p:spPr>
          <a:xfrm>
            <a:off x="502920" y="3246120"/>
            <a:ext cx="10971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b0c8e0"/>
                </a:solidFill>
                <a:effectLst/>
                <a:uFillTx/>
                <a:latin typeface="Calibri"/>
              </a:rPr>
              <a:t>Deep Learning-Based Object Detection over Water Bodies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1"/>
          <p:cNvSpPr/>
          <p:nvPr/>
        </p:nvSpPr>
        <p:spPr>
          <a:xfrm>
            <a:off x="502920" y="374904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Remote Sensing Image Analysis  ·  Computer Vision  ·  CNN Object Detection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2"/>
          <p:cNvSpPr/>
          <p:nvPr/>
        </p:nvSpPr>
        <p:spPr>
          <a:xfrm>
            <a:off x="502920" y="6263640"/>
            <a:ext cx="9142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f4fd"/>
                </a:solidFill>
                <a:effectLst/>
                <a:uFillTx/>
                <a:latin typeface="Calibri"/>
              </a:rPr>
              <a:t>Image Processing &amp; Machine Learning Project   |   2025–26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87440" cy="1004400"/>
          </a:xfrm>
          <a:prstGeom prst="rect">
            <a:avLst/>
          </a:prstGeom>
          <a:solidFill>
            <a:srgbClr val="09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502920" y="182880"/>
            <a:ext cx="1097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 Statement &amp; Objective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6"/>
          <p:cNvSpPr/>
          <p:nvPr/>
        </p:nvSpPr>
        <p:spPr>
          <a:xfrm>
            <a:off x="320040" y="1143000"/>
            <a:ext cx="5667840" cy="255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320040" y="1143000"/>
            <a:ext cx="566784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484560" y="117036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Problem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484560" y="1627560"/>
            <a:ext cx="534780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Manually identifying bridges in satellite/aerial imagery 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time-consuming and error-prone. Automated detection is needed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for infrastructure monitoring, disaster response, and urban planning.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0"/>
          <p:cNvSpPr/>
          <p:nvPr/>
        </p:nvSpPr>
        <p:spPr>
          <a:xfrm>
            <a:off x="6263640" y="1143000"/>
            <a:ext cx="5667840" cy="255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6263640" y="1143000"/>
            <a:ext cx="566784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6428160" y="1170360"/>
            <a:ext cx="5302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Objective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6428160" y="1627560"/>
            <a:ext cx="534780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Develop a robust deep learning pipeline to automatically detect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bridges over water bodies in high-resolution remote sensing images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with high accuracy and efficiency.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338400" y="3931920"/>
            <a:ext cx="3656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91c3a"/>
                </a:solidFill>
                <a:effectLst/>
                <a:uFillTx/>
                <a:latin typeface="Calibri"/>
              </a:rPr>
              <a:t>Key Goals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5"/>
          <p:cNvSpPr/>
          <p:nvPr/>
        </p:nvSpPr>
        <p:spPr>
          <a:xfrm>
            <a:off x="338400" y="4370760"/>
            <a:ext cx="272880" cy="27288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338400" y="437076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713160" y="439812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Detect bridges spanning water bodies from satellite &amp; drone imagery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18"/>
          <p:cNvSpPr/>
          <p:nvPr/>
        </p:nvSpPr>
        <p:spPr>
          <a:xfrm>
            <a:off x="338400" y="4873680"/>
            <a:ext cx="272880" cy="27288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338400" y="487368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713160" y="490104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Handle varying resolutions, angles, and weather conditions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1"/>
          <p:cNvSpPr/>
          <p:nvPr/>
        </p:nvSpPr>
        <p:spPr>
          <a:xfrm>
            <a:off x="338400" y="5376600"/>
            <a:ext cx="272880" cy="27288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338400" y="537660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3"/>
          <p:cNvSpPr/>
          <p:nvPr/>
        </p:nvSpPr>
        <p:spPr>
          <a:xfrm>
            <a:off x="713160" y="5403960"/>
            <a:ext cx="107884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Achieve a good mAP on standard benchmark datasets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24"/>
          <p:cNvSpPr/>
          <p:nvPr/>
        </p:nvSpPr>
        <p:spPr>
          <a:xfrm>
            <a:off x="338400" y="5879520"/>
            <a:ext cx="272880" cy="27288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25"/>
          <p:cNvSpPr/>
          <p:nvPr/>
        </p:nvSpPr>
        <p:spPr>
          <a:xfrm>
            <a:off x="338400" y="587952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6"/>
          <p:cNvSpPr/>
          <p:nvPr/>
        </p:nvSpPr>
        <p:spPr>
          <a:xfrm>
            <a:off x="713160" y="590688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Produce real-time capable inference on edge hardware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87440" cy="1004400"/>
          </a:xfrm>
          <a:prstGeom prst="rect">
            <a:avLst/>
          </a:prstGeom>
          <a:solidFill>
            <a:srgbClr val="09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502920" y="182880"/>
            <a:ext cx="1097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Sources &amp; Benchmark Datasets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6"/>
          <p:cNvSpPr/>
          <p:nvPr/>
        </p:nvSpPr>
        <p:spPr>
          <a:xfrm rot="21585600">
            <a:off x="330480" y="1005120"/>
            <a:ext cx="11109240" cy="5028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7"/>
          <p:cNvSpPr/>
          <p:nvPr/>
        </p:nvSpPr>
        <p:spPr>
          <a:xfrm>
            <a:off x="320040" y="1005120"/>
            <a:ext cx="11109600" cy="520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320040" y="1052280"/>
            <a:ext cx="5302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DOTA v1.0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484560" y="1618560"/>
            <a:ext cx="53020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25688"/>
                </a:solidFill>
                <a:effectLst/>
                <a:uFillTx/>
                <a:latin typeface="Calibri"/>
              </a:rPr>
              <a:t>Detection in Optical Remote Sensing Images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484560" y="1984320"/>
            <a:ext cx="5302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2,806 images · 18 categories incl. bridges · GSD 0.1–1.0 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1"/>
          <p:cNvSpPr/>
          <p:nvPr/>
        </p:nvSpPr>
        <p:spPr>
          <a:xfrm>
            <a:off x="484560" y="2532960"/>
            <a:ext cx="5302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🔗https://www.kaggle.com/datasets/chandlertimm/dota-data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6428160" y="1984320"/>
            <a:ext cx="5302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6428160" y="2532960"/>
            <a:ext cx="5302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3"/>
          <p:cNvSpPr/>
          <p:nvPr/>
        </p:nvSpPr>
        <p:spPr>
          <a:xfrm>
            <a:off x="484560" y="5139000"/>
            <a:ext cx="5302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6"/>
          <p:cNvSpPr/>
          <p:nvPr/>
        </p:nvSpPr>
        <p:spPr>
          <a:xfrm>
            <a:off x="6428160" y="3794760"/>
            <a:ext cx="5302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8"/>
          <p:cNvSpPr/>
          <p:nvPr/>
        </p:nvSpPr>
        <p:spPr>
          <a:xfrm>
            <a:off x="6428160" y="4590360"/>
            <a:ext cx="5302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9"/>
          <p:cNvSpPr/>
          <p:nvPr/>
        </p:nvSpPr>
        <p:spPr>
          <a:xfrm>
            <a:off x="6428160" y="5139000"/>
            <a:ext cx="5302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0"/>
          <p:cNvSpPr/>
          <p:nvPr/>
        </p:nvSpPr>
        <p:spPr>
          <a:xfrm>
            <a:off x="338400" y="6446520"/>
            <a:ext cx="11428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Ground truth annotations from OpenStreetMap (OSM) used to filter bridge-over-water instances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35"/>
          <p:cNvSpPr/>
          <p:nvPr/>
        </p:nvSpPr>
        <p:spPr>
          <a:xfrm>
            <a:off x="320040" y="3136680"/>
            <a:ext cx="11109600" cy="520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GLH – Bridge Dataset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57200" y="3886200"/>
            <a:ext cx="34286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125688"/>
                </a:solidFill>
                <a:effectLst/>
                <a:uFillTx/>
                <a:latin typeface="Calibri"/>
              </a:rPr>
              <a:t>Detection in Optical Remote Sensing Images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57200" y="4655160"/>
            <a:ext cx="107902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🔗</a:t>
            </a:r>
            <a:r>
              <a:rPr lang="en-US" sz="950" b="0" i="1" u="none" strike="noStrike">
                <a:solidFill>
                  <a:srgbClr val="0000ff"/>
                </a:solidFill>
                <a:effectLst/>
                <a:uFillTx/>
                <a:latin typeface="Calibri"/>
                <a:hlinkClick r:id="rId1"/>
              </a:rPr>
              <a:t>https://pan.baidu.com/s/1tXpFukMkOGHXPsSKPRRf3w?pwd=4zgx#list/path=%2Fsharelink1874129844-404851074503124%2FGLH-Bridge&amp;parentPath=%2Fsharelink1874129844-404851074503124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457200" y="3429000"/>
            <a:ext cx="4114440" cy="11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  <a:ea typeface="Noto Sans CJK SC"/>
              </a:rPr>
              <a:t>6000 </a:t>
            </a:r>
            <a:r>
              <a:rPr lang="en-US" sz="1000" b="0" u="none" strike="noStrike">
                <a:solidFill>
                  <a:srgbClr val="2d3a4a"/>
                </a:solidFill>
                <a:effectLst/>
                <a:uFillTx/>
                <a:latin typeface="Calibri"/>
                <a:ea typeface="Noto Sans CJK SC"/>
              </a:rPr>
              <a:t>images ·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sizes range from 2,048×2,048 to 16,384×16,384 pixel.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AccentBar"/>
          <p:cNvSpPr/>
          <p:nvPr/>
        </p:nvSpPr>
        <p:spPr>
          <a:xfrm>
            <a:off x="0" y="0"/>
            <a:ext cx="163080" cy="685764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itle"/>
          <p:cNvSpPr/>
          <p:nvPr/>
        </p:nvSpPr>
        <p:spPr>
          <a:xfrm>
            <a:off x="365760" y="182880"/>
            <a:ext cx="114591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Methodology</a:t>
            </a:r>
            <a:r>
              <a:rPr lang="en-US" sz="32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 — Implementation Details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ubtitle"/>
          <p:cNvSpPr/>
          <p:nvPr/>
        </p:nvSpPr>
        <p:spPr>
          <a:xfrm>
            <a:off x="365760" y="822960"/>
            <a:ext cx="114591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What was done in the code — step by step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Card1Bg"/>
          <p:cNvSpPr/>
          <p:nvPr/>
        </p:nvSpPr>
        <p:spPr>
          <a:xfrm>
            <a:off x="365760" y="1230120"/>
            <a:ext cx="2699640" cy="5199480"/>
          </a:xfrm>
          <a:prstGeom prst="rect">
            <a:avLst/>
          </a:prstGeom>
          <a:solidFill>
            <a:srgbClr val="112b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Card1TopBar"/>
          <p:cNvSpPr/>
          <p:nvPr/>
        </p:nvSpPr>
        <p:spPr>
          <a:xfrm>
            <a:off x="365760" y="1230120"/>
            <a:ext cx="2699640" cy="71640"/>
          </a:xfrm>
          <a:prstGeom prst="rect">
            <a:avLst/>
          </a:prstGeom>
          <a:solidFill>
            <a:srgbClr val="009e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Card1Badge"/>
          <p:cNvSpPr/>
          <p:nvPr/>
        </p:nvSpPr>
        <p:spPr>
          <a:xfrm>
            <a:off x="420120" y="1339920"/>
            <a:ext cx="389520" cy="299520"/>
          </a:xfrm>
          <a:prstGeom prst="rect">
            <a:avLst/>
          </a:prstGeom>
          <a:solidFill>
            <a:srgbClr val="009e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Card1Text"/>
          <p:cNvSpPr/>
          <p:nvPr/>
        </p:nvSpPr>
        <p:spPr>
          <a:xfrm>
            <a:off x="420120" y="1699920"/>
            <a:ext cx="2579760" cy="46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t">
            <a:sp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Environment Setup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Installed Ultralytics YOLOv8 and HuggingFace Hub. Verified CUDA on Kaggle GPU (NVIDIA T4/P100).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Dataset split detection: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Train (t- prefix) and Val (v- prefix) images auto-detected via filename convention from GLH-Bridge dataset.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Symlink strategy: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Large image files symlinked into /kaggle/working/ to stay within disk quota while keeping YOLO data.yaml paths valid.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Card2Bg"/>
          <p:cNvSpPr/>
          <p:nvPr/>
        </p:nvSpPr>
        <p:spPr>
          <a:xfrm>
            <a:off x="3165840" y="1230120"/>
            <a:ext cx="2699640" cy="5199480"/>
          </a:xfrm>
          <a:prstGeom prst="rect">
            <a:avLst/>
          </a:prstGeom>
          <a:solidFill>
            <a:srgbClr val="112b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Card2TopBar"/>
          <p:cNvSpPr/>
          <p:nvPr/>
        </p:nvSpPr>
        <p:spPr>
          <a:xfrm>
            <a:off x="3165840" y="1230120"/>
            <a:ext cx="2699640" cy="7164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rd2Badge"/>
          <p:cNvSpPr/>
          <p:nvPr/>
        </p:nvSpPr>
        <p:spPr>
          <a:xfrm>
            <a:off x="3219840" y="1339920"/>
            <a:ext cx="389520" cy="29952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ard2Text"/>
          <p:cNvSpPr/>
          <p:nvPr/>
        </p:nvSpPr>
        <p:spPr>
          <a:xfrm>
            <a:off x="3219840" y="1699920"/>
            <a:ext cx="2579760" cy="46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t">
            <a:sp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Water-Aware Filtering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Custom is_water() pixel-sampling function samples up to 400 pixels per bounding box region.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RGB heuristics used: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Blue dominance, dark neutral tones, teal hues. Threshold: 28% water pixels required to retain annotation.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Label conversion: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OBB polygon labels converted to YOLO HBB (cx, cy, w, h normalized). Filtered labels saved to /dataset/labels/.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Card3Bg"/>
          <p:cNvSpPr/>
          <p:nvPr/>
        </p:nvSpPr>
        <p:spPr>
          <a:xfrm>
            <a:off x="5965920" y="1230120"/>
            <a:ext cx="2699640" cy="5199480"/>
          </a:xfrm>
          <a:prstGeom prst="rect">
            <a:avLst/>
          </a:prstGeom>
          <a:solidFill>
            <a:srgbClr val="112b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Card3TopBar"/>
          <p:cNvSpPr/>
          <p:nvPr/>
        </p:nvSpPr>
        <p:spPr>
          <a:xfrm>
            <a:off x="5965920" y="1230120"/>
            <a:ext cx="2699640" cy="71640"/>
          </a:xfrm>
          <a:prstGeom prst="rect">
            <a:avLst/>
          </a:prstGeom>
          <a:solidFill>
            <a:srgbClr val="009e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Card3Badge"/>
          <p:cNvSpPr/>
          <p:nvPr/>
        </p:nvSpPr>
        <p:spPr>
          <a:xfrm>
            <a:off x="6019920" y="1339920"/>
            <a:ext cx="389520" cy="299520"/>
          </a:xfrm>
          <a:prstGeom prst="rect">
            <a:avLst/>
          </a:prstGeom>
          <a:solidFill>
            <a:srgbClr val="009e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Card3Text"/>
          <p:cNvSpPr/>
          <p:nvPr/>
        </p:nvSpPr>
        <p:spPr>
          <a:xfrm>
            <a:off x="6019920" y="1699920"/>
            <a:ext cx="257976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t">
            <a:sp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YOLOv8s/n Training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Loaded YOLOv8s from Ultralytics. YAML defined 1 class (bridge) with symlinked train/val image paths.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Validation metrics (model.val):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mAP@0.50: 54.9% | mAP@0.5:0.95: 37.1% | Precision: 78.3% | Recall: 52.8%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Auto-saved plots: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Loss curves, PR curve, F1 curve, confusion matrix and val batch predictions visualized via matplotlib.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Card4Bg"/>
          <p:cNvSpPr/>
          <p:nvPr/>
        </p:nvSpPr>
        <p:spPr>
          <a:xfrm>
            <a:off x="8765640" y="1230120"/>
            <a:ext cx="3257640" cy="5199480"/>
          </a:xfrm>
          <a:prstGeom prst="rect">
            <a:avLst/>
          </a:prstGeom>
          <a:solidFill>
            <a:srgbClr val="112b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Card4TopBar"/>
          <p:cNvSpPr/>
          <p:nvPr/>
        </p:nvSpPr>
        <p:spPr>
          <a:xfrm>
            <a:off x="8765640" y="1230120"/>
            <a:ext cx="3257640" cy="7164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ard4Badge"/>
          <p:cNvSpPr/>
          <p:nvPr/>
        </p:nvSpPr>
        <p:spPr>
          <a:xfrm>
            <a:off x="8820000" y="1339920"/>
            <a:ext cx="389520" cy="29952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ard4Text"/>
          <p:cNvSpPr/>
          <p:nvPr/>
        </p:nvSpPr>
        <p:spPr>
          <a:xfrm>
            <a:off x="8820000" y="1699920"/>
            <a:ext cx="3149640" cy="46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29880" bIns="29880" anchor="t">
            <a:sp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Inference &amp; Analysis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model.predict run on 50 random val images (conf=0.25). Collected confidence scores and per-image bridge counts.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Plotted distributions: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Confidence histogram (threshold=0.25, mean lines) and bridges-per-image bar chart saved as confidence_analysis.png.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en-US" sz="105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Visual outputs: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8c8e8"/>
                </a:solidFill>
                <a:effectLst/>
                <a:uFillTx/>
                <a:latin typeface="Calibri"/>
              </a:rPr>
              <a:t>3x3 prediction grid (green bounding boxes) and side-by-side original vs detection view. All outputs saved to /final_outputs/.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87440" cy="1004400"/>
          </a:xfrm>
          <a:prstGeom prst="rect">
            <a:avLst/>
          </a:prstGeom>
          <a:solidFill>
            <a:srgbClr val="09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2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502920" y="182880"/>
            <a:ext cx="1097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Image Processing Techniques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457200" y="1298520"/>
            <a:ext cx="3473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18"/>
          <p:cNvSpPr/>
          <p:nvPr/>
        </p:nvSpPr>
        <p:spPr>
          <a:xfrm>
            <a:off x="4252680" y="1052280"/>
            <a:ext cx="3747600" cy="237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19"/>
          <p:cNvSpPr/>
          <p:nvPr/>
        </p:nvSpPr>
        <p:spPr>
          <a:xfrm>
            <a:off x="4252680" y="1052280"/>
            <a:ext cx="3747600" cy="7164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0"/>
          <p:cNvSpPr/>
          <p:nvPr/>
        </p:nvSpPr>
        <p:spPr>
          <a:xfrm>
            <a:off x="4389840" y="1180440"/>
            <a:ext cx="34732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91c3a"/>
                </a:solidFill>
                <a:effectLst/>
                <a:uFillTx/>
                <a:latin typeface="Calibri"/>
              </a:rPr>
              <a:t>Data Augmentation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1"/>
          <p:cNvSpPr/>
          <p:nvPr/>
        </p:nvSpPr>
        <p:spPr>
          <a:xfrm>
            <a:off x="4389840" y="164664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Random flips, rotations (0°/90°/180°/270°)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2"/>
          <p:cNvSpPr/>
          <p:nvPr/>
        </p:nvSpPr>
        <p:spPr>
          <a:xfrm>
            <a:off x="4389840" y="217692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Mosaic augmentation (YOLOv5/v8 style)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3"/>
          <p:cNvSpPr/>
          <p:nvPr/>
        </p:nvSpPr>
        <p:spPr>
          <a:xfrm>
            <a:off x="4389840" y="270756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Brightness, contrast, saturation jitter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0"/>
          <p:cNvSpPr/>
          <p:nvPr/>
        </p:nvSpPr>
        <p:spPr>
          <a:xfrm>
            <a:off x="366480" y="1052280"/>
            <a:ext cx="3747600" cy="237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31"/>
          <p:cNvSpPr/>
          <p:nvPr/>
        </p:nvSpPr>
        <p:spPr>
          <a:xfrm>
            <a:off x="366480" y="1052280"/>
            <a:ext cx="3747600" cy="7164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32"/>
          <p:cNvSpPr/>
          <p:nvPr/>
        </p:nvSpPr>
        <p:spPr>
          <a:xfrm>
            <a:off x="503640" y="1180440"/>
            <a:ext cx="34732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91c3a"/>
                </a:solidFill>
                <a:effectLst/>
                <a:uFillTx/>
                <a:latin typeface="Calibri"/>
              </a:rPr>
              <a:t>Feature Extraction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3"/>
          <p:cNvSpPr/>
          <p:nvPr/>
        </p:nvSpPr>
        <p:spPr>
          <a:xfrm>
            <a:off x="503640" y="164664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Backbone: ResNet-50 / EfficientNet-B4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4"/>
          <p:cNvSpPr/>
          <p:nvPr/>
        </p:nvSpPr>
        <p:spPr>
          <a:xfrm>
            <a:off x="503640" y="217692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Feature Pyramid Network (FPN) neck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5"/>
          <p:cNvSpPr/>
          <p:nvPr/>
        </p:nvSpPr>
        <p:spPr>
          <a:xfrm>
            <a:off x="503640" y="270756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Multi-scale detection heads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36"/>
          <p:cNvSpPr/>
          <p:nvPr/>
        </p:nvSpPr>
        <p:spPr>
          <a:xfrm>
            <a:off x="8138880" y="1052280"/>
            <a:ext cx="3747600" cy="237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37"/>
          <p:cNvSpPr/>
          <p:nvPr/>
        </p:nvSpPr>
        <p:spPr>
          <a:xfrm>
            <a:off x="8138880" y="1052280"/>
            <a:ext cx="3747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8"/>
          <p:cNvSpPr/>
          <p:nvPr/>
        </p:nvSpPr>
        <p:spPr>
          <a:xfrm>
            <a:off x="8276040" y="1180440"/>
            <a:ext cx="34732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91c3a"/>
                </a:solidFill>
                <a:effectLst/>
                <a:uFillTx/>
                <a:latin typeface="Calibri"/>
              </a:rPr>
              <a:t>Post-Processing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39"/>
          <p:cNvSpPr/>
          <p:nvPr/>
        </p:nvSpPr>
        <p:spPr>
          <a:xfrm>
            <a:off x="8276040" y="164664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Non-Maximum Suppression (IoU &gt; 0.5)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40"/>
          <p:cNvSpPr/>
          <p:nvPr/>
        </p:nvSpPr>
        <p:spPr>
          <a:xfrm>
            <a:off x="8276040" y="217692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Confidence threshold: 0.45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1"/>
          <p:cNvSpPr/>
          <p:nvPr/>
        </p:nvSpPr>
        <p:spPr>
          <a:xfrm>
            <a:off x="8276040" y="2707560"/>
            <a:ext cx="3473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• Spatial context filtering with water mask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365760" y="182880"/>
            <a:ext cx="91425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 Architecture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365760" y="84132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YOLOv8 with FPN Neck — fine-tuned on bridge imagery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4"/>
          <p:cNvSpPr/>
          <p:nvPr/>
        </p:nvSpPr>
        <p:spPr>
          <a:xfrm>
            <a:off x="365760" y="1508760"/>
            <a:ext cx="2558880" cy="114156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457200" y="1600200"/>
            <a:ext cx="23760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INPUT IMAGE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512 × 512 px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RGB / MS bands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6"/>
          <p:cNvSpPr/>
          <p:nvPr/>
        </p:nvSpPr>
        <p:spPr>
          <a:xfrm>
            <a:off x="3246120" y="1508760"/>
            <a:ext cx="2558880" cy="114156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3337560" y="1600200"/>
            <a:ext cx="23760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BACKBONE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CSPDarkNet-53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(pre-trained ImageNet)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8"/>
          <p:cNvSpPr/>
          <p:nvPr/>
        </p:nvSpPr>
        <p:spPr>
          <a:xfrm>
            <a:off x="6126480" y="1508760"/>
            <a:ext cx="2558880" cy="1141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9"/>
          <p:cNvSpPr/>
          <p:nvPr/>
        </p:nvSpPr>
        <p:spPr>
          <a:xfrm>
            <a:off x="6217920" y="1600200"/>
            <a:ext cx="23760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 Pyramid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Network (FPN/PAN)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0"/>
          <p:cNvSpPr/>
          <p:nvPr/>
        </p:nvSpPr>
        <p:spPr>
          <a:xfrm>
            <a:off x="9006840" y="1508760"/>
            <a:ext cx="2558880" cy="114156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9098280" y="1600200"/>
            <a:ext cx="23760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 HEAD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Multi-scale anchors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output scales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2"/>
          <p:cNvSpPr/>
          <p:nvPr/>
        </p:nvSpPr>
        <p:spPr>
          <a:xfrm>
            <a:off x="2971800" y="1847160"/>
            <a:ext cx="318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3"/>
          <p:cNvSpPr/>
          <p:nvPr/>
        </p:nvSpPr>
        <p:spPr>
          <a:xfrm>
            <a:off x="5852160" y="1847160"/>
            <a:ext cx="318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8732520" y="1847160"/>
            <a:ext cx="318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5"/>
          <p:cNvSpPr/>
          <p:nvPr/>
        </p:nvSpPr>
        <p:spPr>
          <a:xfrm>
            <a:off x="365760" y="2972520"/>
            <a:ext cx="11292120" cy="3519000"/>
          </a:xfrm>
          <a:prstGeom prst="rect">
            <a:avLst/>
          </a:prstGeom>
          <a:solidFill>
            <a:srgbClr val="1028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16"/>
          <p:cNvSpPr/>
          <p:nvPr/>
        </p:nvSpPr>
        <p:spPr>
          <a:xfrm>
            <a:off x="365760" y="2926080"/>
            <a:ext cx="11292120" cy="34596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530280" y="2953440"/>
            <a:ext cx="530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YOLOv8n/s (Real-time)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8"/>
          <p:cNvSpPr/>
          <p:nvPr/>
        </p:nvSpPr>
        <p:spPr>
          <a:xfrm>
            <a:off x="567000" y="3401640"/>
            <a:ext cx="5119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8c5de"/>
                </a:solidFill>
                <a:effectLst/>
                <a:uFillTx/>
                <a:latin typeface="Calibri"/>
              </a:rPr>
              <a:t>Inference: ~15 ms/image (GPU)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9"/>
          <p:cNvSpPr/>
          <p:nvPr/>
        </p:nvSpPr>
        <p:spPr>
          <a:xfrm>
            <a:off x="567000" y="4060080"/>
            <a:ext cx="5119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8c5de"/>
                </a:solidFill>
                <a:effectLst/>
                <a:uFillTx/>
                <a:latin typeface="Calibri"/>
              </a:rPr>
              <a:t>Params: 3.2M – 11.2M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0"/>
          <p:cNvSpPr/>
          <p:nvPr/>
        </p:nvSpPr>
        <p:spPr>
          <a:xfrm>
            <a:off x="567000" y="4718160"/>
            <a:ext cx="511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8c5de"/>
                </a:solidFill>
                <a:effectLst/>
                <a:uFillTx/>
                <a:latin typeface="Calibri"/>
              </a:rPr>
              <a:t>MAP@0.5: ~54.9% (DOTAv1.0) , 33% till epoch 61 (GLH Bridge)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1"/>
          <p:cNvSpPr/>
          <p:nvPr/>
        </p:nvSpPr>
        <p:spPr>
          <a:xfrm>
            <a:off x="567000" y="5376600"/>
            <a:ext cx="5119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8c5de"/>
                </a:solidFill>
                <a:effectLst/>
                <a:uFillTx/>
                <a:latin typeface="Calibri"/>
              </a:rPr>
              <a:t>Best for: edge deployment, drones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9"/>
          <p:cNvSpPr/>
          <p:nvPr/>
        </p:nvSpPr>
        <p:spPr>
          <a:xfrm>
            <a:off x="365760" y="6492240"/>
            <a:ext cx="11428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★  Primary model: YOLOv8s — balance of speed and accuracy for airborne imagery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87440" cy="1004400"/>
          </a:xfrm>
          <a:prstGeom prst="rect">
            <a:avLst/>
          </a:prstGeom>
          <a:solidFill>
            <a:srgbClr val="09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502920" y="182880"/>
            <a:ext cx="1097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 Results — Sample Outputs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8"/>
          <p:cNvSpPr/>
          <p:nvPr/>
        </p:nvSpPr>
        <p:spPr>
          <a:xfrm>
            <a:off x="411480" y="418788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91c3a"/>
                </a:solidFill>
                <a:effectLst/>
                <a:uFillTx/>
                <a:latin typeface="Calibri"/>
              </a:rPr>
              <a:t>Satellite Image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9"/>
          <p:cNvSpPr/>
          <p:nvPr/>
        </p:nvSpPr>
        <p:spPr>
          <a:xfrm>
            <a:off x="411480" y="4526280"/>
            <a:ext cx="3564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WorldView-3 · 0.3m GSD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30"/>
          <p:cNvSpPr/>
          <p:nvPr/>
        </p:nvSpPr>
        <p:spPr>
          <a:xfrm>
            <a:off x="411480" y="4827960"/>
            <a:ext cx="3564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Correct detection: Highway bridge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over Yamuna River corridor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55"/>
          <p:cNvSpPr/>
          <p:nvPr/>
        </p:nvSpPr>
        <p:spPr>
          <a:xfrm>
            <a:off x="4343400" y="4827960"/>
            <a:ext cx="35647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78"/>
          <p:cNvSpPr/>
          <p:nvPr/>
        </p:nvSpPr>
        <p:spPr>
          <a:xfrm>
            <a:off x="8275320" y="4187880"/>
            <a:ext cx="3564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91c3a"/>
                </a:solidFill>
                <a:effectLst/>
                <a:uFillTx/>
                <a:latin typeface="Calibri"/>
              </a:rPr>
              <a:t>Augmented Image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79"/>
          <p:cNvSpPr/>
          <p:nvPr/>
        </p:nvSpPr>
        <p:spPr>
          <a:xfrm>
            <a:off x="8275320" y="4526280"/>
            <a:ext cx="3564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Sentinel-2 · 10m GSD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80"/>
          <p:cNvSpPr/>
          <p:nvPr/>
        </p:nvSpPr>
        <p:spPr>
          <a:xfrm>
            <a:off x="8275320" y="4827960"/>
            <a:ext cx="3564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False positive: Shadow pattern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d3a4a"/>
                </a:solidFill>
                <a:effectLst/>
                <a:uFillTx/>
                <a:latin typeface="Calibri"/>
              </a:rPr>
              <a:t>on low-resolution imagery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81"/>
          <p:cNvSpPr/>
          <p:nvPr/>
        </p:nvSpPr>
        <p:spPr>
          <a:xfrm>
            <a:off x="338400" y="6382440"/>
            <a:ext cx="11428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Bounding box predictions overlaid on false-color composite imagery  |  Threshold: conf ≥ 0.45, IoU ≥ 0.50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"/>
          <p:cNvPicPr/>
          <p:nvPr/>
        </p:nvPicPr>
        <p:blipFill>
          <a:blip r:embed="rId1"/>
          <a:stretch/>
        </p:blipFill>
        <p:spPr>
          <a:xfrm>
            <a:off x="163800" y="1005120"/>
            <a:ext cx="11995200" cy="319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43"/>
          <p:cNvSpPr/>
          <p:nvPr/>
        </p:nvSpPr>
        <p:spPr>
          <a:xfrm>
            <a:off x="617220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1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365760" y="182880"/>
            <a:ext cx="1097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Accuracy &amp; Quantitative Analysis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365760" y="822960"/>
            <a:ext cx="10971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Evaluation on DOTA v1.0 test split — bridge class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457200" y="141732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5"/>
          <p:cNvSpPr/>
          <p:nvPr/>
        </p:nvSpPr>
        <p:spPr>
          <a:xfrm>
            <a:off x="45720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6"/>
          <p:cNvSpPr/>
          <p:nvPr/>
        </p:nvSpPr>
        <p:spPr>
          <a:xfrm>
            <a:off x="54864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548640" y="2423160"/>
            <a:ext cx="2421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8"/>
          <p:cNvSpPr/>
          <p:nvPr/>
        </p:nvSpPr>
        <p:spPr>
          <a:xfrm>
            <a:off x="3337560" y="141732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ectangle 9"/>
          <p:cNvSpPr/>
          <p:nvPr/>
        </p:nvSpPr>
        <p:spPr>
          <a:xfrm>
            <a:off x="333756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10"/>
          <p:cNvSpPr/>
          <p:nvPr/>
        </p:nvSpPr>
        <p:spPr>
          <a:xfrm>
            <a:off x="342900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1"/>
          <p:cNvSpPr/>
          <p:nvPr/>
        </p:nvSpPr>
        <p:spPr>
          <a:xfrm>
            <a:off x="3429000" y="2423160"/>
            <a:ext cx="2421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12"/>
          <p:cNvSpPr/>
          <p:nvPr/>
        </p:nvSpPr>
        <p:spPr>
          <a:xfrm>
            <a:off x="905256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13"/>
          <p:cNvSpPr/>
          <p:nvPr/>
        </p:nvSpPr>
        <p:spPr>
          <a:xfrm>
            <a:off x="621792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4"/>
          <p:cNvSpPr/>
          <p:nvPr/>
        </p:nvSpPr>
        <p:spPr>
          <a:xfrm>
            <a:off x="630936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5"/>
          <p:cNvSpPr/>
          <p:nvPr/>
        </p:nvSpPr>
        <p:spPr>
          <a:xfrm>
            <a:off x="6309360" y="2423160"/>
            <a:ext cx="2421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7"/>
          <p:cNvSpPr/>
          <p:nvPr/>
        </p:nvSpPr>
        <p:spPr>
          <a:xfrm>
            <a:off x="909828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8"/>
          <p:cNvSpPr/>
          <p:nvPr/>
        </p:nvSpPr>
        <p:spPr>
          <a:xfrm>
            <a:off x="918972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29.3%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9"/>
          <p:cNvSpPr/>
          <p:nvPr/>
        </p:nvSpPr>
        <p:spPr>
          <a:xfrm>
            <a:off x="918972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Mean Bridge Conf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20"/>
          <p:cNvSpPr/>
          <p:nvPr/>
        </p:nvSpPr>
        <p:spPr>
          <a:xfrm>
            <a:off x="228600" y="5286240"/>
            <a:ext cx="214740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21"/>
          <p:cNvSpPr/>
          <p:nvPr/>
        </p:nvSpPr>
        <p:spPr>
          <a:xfrm>
            <a:off x="302760" y="5350320"/>
            <a:ext cx="2010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22"/>
          <p:cNvSpPr/>
          <p:nvPr/>
        </p:nvSpPr>
        <p:spPr>
          <a:xfrm>
            <a:off x="2424240" y="5286240"/>
            <a:ext cx="196452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3"/>
          <p:cNvSpPr/>
          <p:nvPr/>
        </p:nvSpPr>
        <p:spPr>
          <a:xfrm>
            <a:off x="2497320" y="5350320"/>
            <a:ext cx="1827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Backbone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24"/>
          <p:cNvSpPr/>
          <p:nvPr/>
        </p:nvSpPr>
        <p:spPr>
          <a:xfrm>
            <a:off x="4435920" y="5286240"/>
            <a:ext cx="132444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5"/>
          <p:cNvSpPr/>
          <p:nvPr/>
        </p:nvSpPr>
        <p:spPr>
          <a:xfrm>
            <a:off x="4509000" y="5350320"/>
            <a:ext cx="1187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mAP@0.5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26"/>
          <p:cNvSpPr/>
          <p:nvPr/>
        </p:nvSpPr>
        <p:spPr>
          <a:xfrm>
            <a:off x="5807520" y="5286240"/>
            <a:ext cx="159876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7"/>
          <p:cNvSpPr/>
          <p:nvPr/>
        </p:nvSpPr>
        <p:spPr>
          <a:xfrm>
            <a:off x="5880600" y="535032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mAP@0.5:0.95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28"/>
          <p:cNvSpPr/>
          <p:nvPr/>
        </p:nvSpPr>
        <p:spPr>
          <a:xfrm>
            <a:off x="7453440" y="5286240"/>
            <a:ext cx="123300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29"/>
          <p:cNvSpPr/>
          <p:nvPr/>
        </p:nvSpPr>
        <p:spPr>
          <a:xfrm>
            <a:off x="7526520" y="5350320"/>
            <a:ext cx="10958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FPS (GPU)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30"/>
          <p:cNvSpPr/>
          <p:nvPr/>
        </p:nvSpPr>
        <p:spPr>
          <a:xfrm>
            <a:off x="8733600" y="5286240"/>
            <a:ext cx="1324440" cy="38268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31"/>
          <p:cNvSpPr/>
          <p:nvPr/>
        </p:nvSpPr>
        <p:spPr>
          <a:xfrm>
            <a:off x="8806680" y="5350320"/>
            <a:ext cx="1187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Params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32"/>
          <p:cNvSpPr/>
          <p:nvPr/>
        </p:nvSpPr>
        <p:spPr>
          <a:xfrm>
            <a:off x="163440" y="5679360"/>
            <a:ext cx="2147400" cy="455760"/>
          </a:xfrm>
          <a:prstGeom prst="rect">
            <a:avLst/>
          </a:prstGeom>
          <a:solidFill>
            <a:srgbClr val="0e2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33"/>
          <p:cNvSpPr/>
          <p:nvPr/>
        </p:nvSpPr>
        <p:spPr>
          <a:xfrm>
            <a:off x="302760" y="576180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YOLOv8s (Ours★)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34"/>
          <p:cNvSpPr/>
          <p:nvPr/>
        </p:nvSpPr>
        <p:spPr>
          <a:xfrm>
            <a:off x="2424240" y="5670360"/>
            <a:ext cx="1964520" cy="455760"/>
          </a:xfrm>
          <a:prstGeom prst="rect">
            <a:avLst/>
          </a:prstGeom>
          <a:solidFill>
            <a:srgbClr val="0e2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35"/>
          <p:cNvSpPr/>
          <p:nvPr/>
        </p:nvSpPr>
        <p:spPr>
          <a:xfrm>
            <a:off x="2497320" y="5761800"/>
            <a:ext cx="1827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CSPDarkNet-53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36"/>
          <p:cNvSpPr/>
          <p:nvPr/>
        </p:nvSpPr>
        <p:spPr>
          <a:xfrm>
            <a:off x="4435920" y="5670360"/>
            <a:ext cx="1324440" cy="455760"/>
          </a:xfrm>
          <a:prstGeom prst="rect">
            <a:avLst/>
          </a:prstGeom>
          <a:solidFill>
            <a:srgbClr val="0e2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37"/>
          <p:cNvSpPr/>
          <p:nvPr/>
        </p:nvSpPr>
        <p:spPr>
          <a:xfrm>
            <a:off x="4509000" y="5761800"/>
            <a:ext cx="1187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54.9%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38"/>
          <p:cNvSpPr/>
          <p:nvPr/>
        </p:nvSpPr>
        <p:spPr>
          <a:xfrm>
            <a:off x="5807520" y="5670360"/>
            <a:ext cx="1598760" cy="455760"/>
          </a:xfrm>
          <a:prstGeom prst="rect">
            <a:avLst/>
          </a:prstGeom>
          <a:solidFill>
            <a:srgbClr val="0e2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39"/>
          <p:cNvSpPr/>
          <p:nvPr/>
        </p:nvSpPr>
        <p:spPr>
          <a:xfrm>
            <a:off x="5880600" y="5761800"/>
            <a:ext cx="146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37.1%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40"/>
          <p:cNvSpPr/>
          <p:nvPr/>
        </p:nvSpPr>
        <p:spPr>
          <a:xfrm>
            <a:off x="7453440" y="5670360"/>
            <a:ext cx="1233000" cy="455760"/>
          </a:xfrm>
          <a:prstGeom prst="rect">
            <a:avLst/>
          </a:prstGeom>
          <a:solidFill>
            <a:srgbClr val="0e2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41"/>
          <p:cNvSpPr/>
          <p:nvPr/>
        </p:nvSpPr>
        <p:spPr>
          <a:xfrm>
            <a:off x="7526520" y="5761800"/>
            <a:ext cx="1095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67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42"/>
          <p:cNvSpPr/>
          <p:nvPr/>
        </p:nvSpPr>
        <p:spPr>
          <a:xfrm>
            <a:off x="8733600" y="5670360"/>
            <a:ext cx="1324440" cy="455760"/>
          </a:xfrm>
          <a:prstGeom prst="rect">
            <a:avLst/>
          </a:prstGeom>
          <a:solidFill>
            <a:srgbClr val="0e2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43"/>
          <p:cNvSpPr/>
          <p:nvPr/>
        </p:nvSpPr>
        <p:spPr>
          <a:xfrm>
            <a:off x="8806680" y="5761800"/>
            <a:ext cx="1187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11.2M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44"/>
          <p:cNvSpPr/>
          <p:nvPr/>
        </p:nvSpPr>
        <p:spPr>
          <a:xfrm>
            <a:off x="228600" y="6173280"/>
            <a:ext cx="2147400" cy="455760"/>
          </a:xfrm>
          <a:prstGeom prst="rect">
            <a:avLst/>
          </a:prstGeom>
          <a:solidFill>
            <a:srgbClr val="0a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45"/>
          <p:cNvSpPr/>
          <p:nvPr/>
        </p:nvSpPr>
        <p:spPr>
          <a:xfrm>
            <a:off x="302760" y="626472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YOLOv8n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46"/>
          <p:cNvSpPr/>
          <p:nvPr/>
        </p:nvSpPr>
        <p:spPr>
          <a:xfrm>
            <a:off x="2424240" y="6173280"/>
            <a:ext cx="1964520" cy="455760"/>
          </a:xfrm>
          <a:prstGeom prst="rect">
            <a:avLst/>
          </a:prstGeom>
          <a:solidFill>
            <a:srgbClr val="0a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47"/>
          <p:cNvSpPr/>
          <p:nvPr/>
        </p:nvSpPr>
        <p:spPr>
          <a:xfrm>
            <a:off x="2497320" y="6264720"/>
            <a:ext cx="1827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CSPDarkNet-nano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48"/>
          <p:cNvSpPr/>
          <p:nvPr/>
        </p:nvSpPr>
        <p:spPr>
          <a:xfrm>
            <a:off x="4435920" y="6173280"/>
            <a:ext cx="1324440" cy="455760"/>
          </a:xfrm>
          <a:prstGeom prst="rect">
            <a:avLst/>
          </a:prstGeom>
          <a:solidFill>
            <a:srgbClr val="0a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49"/>
          <p:cNvSpPr/>
          <p:nvPr/>
        </p:nvSpPr>
        <p:spPr>
          <a:xfrm>
            <a:off x="4509000" y="6264720"/>
            <a:ext cx="1187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51.6%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50"/>
          <p:cNvSpPr/>
          <p:nvPr/>
        </p:nvSpPr>
        <p:spPr>
          <a:xfrm>
            <a:off x="5807520" y="6173280"/>
            <a:ext cx="1598760" cy="455760"/>
          </a:xfrm>
          <a:prstGeom prst="rect">
            <a:avLst/>
          </a:prstGeom>
          <a:solidFill>
            <a:srgbClr val="0a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51"/>
          <p:cNvSpPr/>
          <p:nvPr/>
        </p:nvSpPr>
        <p:spPr>
          <a:xfrm>
            <a:off x="5880600" y="6264720"/>
            <a:ext cx="146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34.0%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52"/>
          <p:cNvSpPr/>
          <p:nvPr/>
        </p:nvSpPr>
        <p:spPr>
          <a:xfrm>
            <a:off x="7453440" y="6173280"/>
            <a:ext cx="1233000" cy="455760"/>
          </a:xfrm>
          <a:prstGeom prst="rect">
            <a:avLst/>
          </a:prstGeom>
          <a:solidFill>
            <a:srgbClr val="0a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53"/>
          <p:cNvSpPr/>
          <p:nvPr/>
        </p:nvSpPr>
        <p:spPr>
          <a:xfrm>
            <a:off x="7526520" y="6264720"/>
            <a:ext cx="1095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104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54"/>
          <p:cNvSpPr/>
          <p:nvPr/>
        </p:nvSpPr>
        <p:spPr>
          <a:xfrm>
            <a:off x="8733600" y="6173280"/>
            <a:ext cx="1324440" cy="455760"/>
          </a:xfrm>
          <a:prstGeom prst="rect">
            <a:avLst/>
          </a:prstGeom>
          <a:solidFill>
            <a:srgbClr val="0a1c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55"/>
          <p:cNvSpPr/>
          <p:nvPr/>
        </p:nvSpPr>
        <p:spPr>
          <a:xfrm>
            <a:off x="8806680" y="6264720"/>
            <a:ext cx="1187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3.2M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457200" y="3096000"/>
            <a:ext cx="4246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Evaluation on GLH test split — bridge class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45"/>
          <p:cNvSpPr/>
          <p:nvPr/>
        </p:nvSpPr>
        <p:spPr>
          <a:xfrm>
            <a:off x="617256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44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47"/>
          <p:cNvSpPr/>
          <p:nvPr/>
        </p:nvSpPr>
        <p:spPr>
          <a:xfrm>
            <a:off x="3337920" y="141768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49"/>
          <p:cNvSpPr/>
          <p:nvPr/>
        </p:nvSpPr>
        <p:spPr>
          <a:xfrm>
            <a:off x="333792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46"/>
          <p:cNvSpPr/>
          <p:nvPr/>
        </p:nvSpPr>
        <p:spPr>
          <a:xfrm>
            <a:off x="342936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48"/>
          <p:cNvSpPr/>
          <p:nvPr/>
        </p:nvSpPr>
        <p:spPr>
          <a:xfrm>
            <a:off x="342936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51"/>
          <p:cNvSpPr/>
          <p:nvPr/>
        </p:nvSpPr>
        <p:spPr>
          <a:xfrm>
            <a:off x="905292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53"/>
          <p:cNvSpPr/>
          <p:nvPr/>
        </p:nvSpPr>
        <p:spPr>
          <a:xfrm>
            <a:off x="621828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50"/>
          <p:cNvSpPr/>
          <p:nvPr/>
        </p:nvSpPr>
        <p:spPr>
          <a:xfrm>
            <a:off x="630972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52"/>
          <p:cNvSpPr/>
          <p:nvPr/>
        </p:nvSpPr>
        <p:spPr>
          <a:xfrm>
            <a:off x="630972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55"/>
          <p:cNvSpPr/>
          <p:nvPr/>
        </p:nvSpPr>
        <p:spPr>
          <a:xfrm>
            <a:off x="909864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54"/>
          <p:cNvSpPr/>
          <p:nvPr/>
        </p:nvSpPr>
        <p:spPr>
          <a:xfrm>
            <a:off x="919008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29.3%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56"/>
          <p:cNvSpPr/>
          <p:nvPr/>
        </p:nvSpPr>
        <p:spPr>
          <a:xfrm>
            <a:off x="919008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Mean Bridge Conf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56"/>
          <p:cNvSpPr/>
          <p:nvPr/>
        </p:nvSpPr>
        <p:spPr>
          <a:xfrm>
            <a:off x="617220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ectangle 57"/>
          <p:cNvSpPr/>
          <p:nvPr/>
        </p:nvSpPr>
        <p:spPr>
          <a:xfrm>
            <a:off x="457200" y="141732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Rectangle 58"/>
          <p:cNvSpPr/>
          <p:nvPr/>
        </p:nvSpPr>
        <p:spPr>
          <a:xfrm>
            <a:off x="45720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57"/>
          <p:cNvSpPr/>
          <p:nvPr/>
        </p:nvSpPr>
        <p:spPr>
          <a:xfrm>
            <a:off x="54864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58"/>
          <p:cNvSpPr/>
          <p:nvPr/>
        </p:nvSpPr>
        <p:spPr>
          <a:xfrm>
            <a:off x="54864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59"/>
          <p:cNvSpPr/>
          <p:nvPr/>
        </p:nvSpPr>
        <p:spPr>
          <a:xfrm>
            <a:off x="3337560" y="141732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Rectangle 60"/>
          <p:cNvSpPr/>
          <p:nvPr/>
        </p:nvSpPr>
        <p:spPr>
          <a:xfrm>
            <a:off x="333756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59"/>
          <p:cNvSpPr/>
          <p:nvPr/>
        </p:nvSpPr>
        <p:spPr>
          <a:xfrm>
            <a:off x="342900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60"/>
          <p:cNvSpPr/>
          <p:nvPr/>
        </p:nvSpPr>
        <p:spPr>
          <a:xfrm>
            <a:off x="342900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61"/>
          <p:cNvSpPr/>
          <p:nvPr/>
        </p:nvSpPr>
        <p:spPr>
          <a:xfrm>
            <a:off x="905256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ectangle 62"/>
          <p:cNvSpPr/>
          <p:nvPr/>
        </p:nvSpPr>
        <p:spPr>
          <a:xfrm>
            <a:off x="621792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61"/>
          <p:cNvSpPr/>
          <p:nvPr/>
        </p:nvSpPr>
        <p:spPr>
          <a:xfrm>
            <a:off x="630936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62"/>
          <p:cNvSpPr/>
          <p:nvPr/>
        </p:nvSpPr>
        <p:spPr>
          <a:xfrm>
            <a:off x="630936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63"/>
          <p:cNvSpPr/>
          <p:nvPr/>
        </p:nvSpPr>
        <p:spPr>
          <a:xfrm>
            <a:off x="909828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63"/>
          <p:cNvSpPr/>
          <p:nvPr/>
        </p:nvSpPr>
        <p:spPr>
          <a:xfrm>
            <a:off x="918972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29.3%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64"/>
          <p:cNvSpPr/>
          <p:nvPr/>
        </p:nvSpPr>
        <p:spPr>
          <a:xfrm>
            <a:off x="918972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Mean Bridge Conf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64"/>
          <p:cNvSpPr/>
          <p:nvPr/>
        </p:nvSpPr>
        <p:spPr>
          <a:xfrm>
            <a:off x="617256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65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66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65"/>
          <p:cNvSpPr/>
          <p:nvPr/>
        </p:nvSpPr>
        <p:spPr>
          <a:xfrm>
            <a:off x="3337920" y="141768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66"/>
          <p:cNvSpPr/>
          <p:nvPr/>
        </p:nvSpPr>
        <p:spPr>
          <a:xfrm>
            <a:off x="333792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67"/>
          <p:cNvSpPr/>
          <p:nvPr/>
        </p:nvSpPr>
        <p:spPr>
          <a:xfrm>
            <a:off x="342936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68"/>
          <p:cNvSpPr/>
          <p:nvPr/>
        </p:nvSpPr>
        <p:spPr>
          <a:xfrm>
            <a:off x="342936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67"/>
          <p:cNvSpPr/>
          <p:nvPr/>
        </p:nvSpPr>
        <p:spPr>
          <a:xfrm>
            <a:off x="905292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68"/>
          <p:cNvSpPr/>
          <p:nvPr/>
        </p:nvSpPr>
        <p:spPr>
          <a:xfrm>
            <a:off x="621828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69"/>
          <p:cNvSpPr/>
          <p:nvPr/>
        </p:nvSpPr>
        <p:spPr>
          <a:xfrm>
            <a:off x="630972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70"/>
          <p:cNvSpPr/>
          <p:nvPr/>
        </p:nvSpPr>
        <p:spPr>
          <a:xfrm>
            <a:off x="630972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69"/>
          <p:cNvSpPr/>
          <p:nvPr/>
        </p:nvSpPr>
        <p:spPr>
          <a:xfrm>
            <a:off x="909864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71"/>
          <p:cNvSpPr/>
          <p:nvPr/>
        </p:nvSpPr>
        <p:spPr>
          <a:xfrm>
            <a:off x="919008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29.3%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72"/>
          <p:cNvSpPr/>
          <p:nvPr/>
        </p:nvSpPr>
        <p:spPr>
          <a:xfrm>
            <a:off x="919008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Mean Bridge Conf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70"/>
          <p:cNvSpPr/>
          <p:nvPr/>
        </p:nvSpPr>
        <p:spPr>
          <a:xfrm>
            <a:off x="617220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ectangle 71"/>
          <p:cNvSpPr/>
          <p:nvPr/>
        </p:nvSpPr>
        <p:spPr>
          <a:xfrm>
            <a:off x="457200" y="141732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ectangle 72"/>
          <p:cNvSpPr/>
          <p:nvPr/>
        </p:nvSpPr>
        <p:spPr>
          <a:xfrm>
            <a:off x="45720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73"/>
          <p:cNvSpPr/>
          <p:nvPr/>
        </p:nvSpPr>
        <p:spPr>
          <a:xfrm>
            <a:off x="54864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74"/>
          <p:cNvSpPr/>
          <p:nvPr/>
        </p:nvSpPr>
        <p:spPr>
          <a:xfrm>
            <a:off x="54864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73"/>
          <p:cNvSpPr/>
          <p:nvPr/>
        </p:nvSpPr>
        <p:spPr>
          <a:xfrm>
            <a:off x="3337560" y="141732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Rectangle 74"/>
          <p:cNvSpPr/>
          <p:nvPr/>
        </p:nvSpPr>
        <p:spPr>
          <a:xfrm>
            <a:off x="333756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75"/>
          <p:cNvSpPr/>
          <p:nvPr/>
        </p:nvSpPr>
        <p:spPr>
          <a:xfrm>
            <a:off x="342900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76"/>
          <p:cNvSpPr/>
          <p:nvPr/>
        </p:nvSpPr>
        <p:spPr>
          <a:xfrm>
            <a:off x="342900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75"/>
          <p:cNvSpPr/>
          <p:nvPr/>
        </p:nvSpPr>
        <p:spPr>
          <a:xfrm>
            <a:off x="905256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76"/>
          <p:cNvSpPr/>
          <p:nvPr/>
        </p:nvSpPr>
        <p:spPr>
          <a:xfrm>
            <a:off x="621792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77"/>
          <p:cNvSpPr/>
          <p:nvPr/>
        </p:nvSpPr>
        <p:spPr>
          <a:xfrm>
            <a:off x="630936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82"/>
          <p:cNvSpPr/>
          <p:nvPr/>
        </p:nvSpPr>
        <p:spPr>
          <a:xfrm>
            <a:off x="630936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77"/>
          <p:cNvSpPr/>
          <p:nvPr/>
        </p:nvSpPr>
        <p:spPr>
          <a:xfrm>
            <a:off x="909828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83"/>
          <p:cNvSpPr/>
          <p:nvPr/>
        </p:nvSpPr>
        <p:spPr>
          <a:xfrm>
            <a:off x="918972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29.3%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84"/>
          <p:cNvSpPr/>
          <p:nvPr/>
        </p:nvSpPr>
        <p:spPr>
          <a:xfrm>
            <a:off x="918972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Mean Bridge Conf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78"/>
          <p:cNvSpPr/>
          <p:nvPr/>
        </p:nvSpPr>
        <p:spPr>
          <a:xfrm>
            <a:off x="617256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85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86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79"/>
          <p:cNvSpPr/>
          <p:nvPr/>
        </p:nvSpPr>
        <p:spPr>
          <a:xfrm>
            <a:off x="3337920" y="141768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Rectangle 80"/>
          <p:cNvSpPr/>
          <p:nvPr/>
        </p:nvSpPr>
        <p:spPr>
          <a:xfrm>
            <a:off x="333792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87"/>
          <p:cNvSpPr/>
          <p:nvPr/>
        </p:nvSpPr>
        <p:spPr>
          <a:xfrm>
            <a:off x="342936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88"/>
          <p:cNvSpPr/>
          <p:nvPr/>
        </p:nvSpPr>
        <p:spPr>
          <a:xfrm>
            <a:off x="342936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81"/>
          <p:cNvSpPr/>
          <p:nvPr/>
        </p:nvSpPr>
        <p:spPr>
          <a:xfrm>
            <a:off x="905292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82"/>
          <p:cNvSpPr/>
          <p:nvPr/>
        </p:nvSpPr>
        <p:spPr>
          <a:xfrm>
            <a:off x="621828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89"/>
          <p:cNvSpPr/>
          <p:nvPr/>
        </p:nvSpPr>
        <p:spPr>
          <a:xfrm>
            <a:off x="630972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90"/>
          <p:cNvSpPr/>
          <p:nvPr/>
        </p:nvSpPr>
        <p:spPr>
          <a:xfrm>
            <a:off x="630972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83"/>
          <p:cNvSpPr/>
          <p:nvPr/>
        </p:nvSpPr>
        <p:spPr>
          <a:xfrm>
            <a:off x="909864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91"/>
          <p:cNvSpPr/>
          <p:nvPr/>
        </p:nvSpPr>
        <p:spPr>
          <a:xfrm>
            <a:off x="919008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29.3%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92"/>
          <p:cNvSpPr/>
          <p:nvPr/>
        </p:nvSpPr>
        <p:spPr>
          <a:xfrm>
            <a:off x="919008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Mean Bridge Conf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84"/>
          <p:cNvSpPr/>
          <p:nvPr/>
        </p:nvSpPr>
        <p:spPr>
          <a:xfrm>
            <a:off x="617220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ectangle 86"/>
          <p:cNvSpPr/>
          <p:nvPr/>
        </p:nvSpPr>
        <p:spPr>
          <a:xfrm>
            <a:off x="45720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93"/>
          <p:cNvSpPr/>
          <p:nvPr/>
        </p:nvSpPr>
        <p:spPr>
          <a:xfrm>
            <a:off x="54864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94"/>
          <p:cNvSpPr/>
          <p:nvPr/>
        </p:nvSpPr>
        <p:spPr>
          <a:xfrm>
            <a:off x="54864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87"/>
          <p:cNvSpPr/>
          <p:nvPr/>
        </p:nvSpPr>
        <p:spPr>
          <a:xfrm>
            <a:off x="3337560" y="141732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Rectangle 88"/>
          <p:cNvSpPr/>
          <p:nvPr/>
        </p:nvSpPr>
        <p:spPr>
          <a:xfrm>
            <a:off x="333756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95"/>
          <p:cNvSpPr/>
          <p:nvPr/>
        </p:nvSpPr>
        <p:spPr>
          <a:xfrm>
            <a:off x="342900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96"/>
          <p:cNvSpPr/>
          <p:nvPr/>
        </p:nvSpPr>
        <p:spPr>
          <a:xfrm>
            <a:off x="342900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89"/>
          <p:cNvSpPr/>
          <p:nvPr/>
        </p:nvSpPr>
        <p:spPr>
          <a:xfrm>
            <a:off x="9052560" y="141732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90"/>
          <p:cNvSpPr/>
          <p:nvPr/>
        </p:nvSpPr>
        <p:spPr>
          <a:xfrm>
            <a:off x="621792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97"/>
          <p:cNvSpPr/>
          <p:nvPr/>
        </p:nvSpPr>
        <p:spPr>
          <a:xfrm>
            <a:off x="630936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98"/>
          <p:cNvSpPr/>
          <p:nvPr/>
        </p:nvSpPr>
        <p:spPr>
          <a:xfrm>
            <a:off x="630936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91"/>
          <p:cNvSpPr/>
          <p:nvPr/>
        </p:nvSpPr>
        <p:spPr>
          <a:xfrm>
            <a:off x="9098280" y="141732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99"/>
          <p:cNvSpPr/>
          <p:nvPr/>
        </p:nvSpPr>
        <p:spPr>
          <a:xfrm>
            <a:off x="9189720" y="155448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29.3%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00"/>
          <p:cNvSpPr/>
          <p:nvPr/>
        </p:nvSpPr>
        <p:spPr>
          <a:xfrm>
            <a:off x="9189720" y="242316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Mean Bridge Conf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92"/>
          <p:cNvSpPr/>
          <p:nvPr/>
        </p:nvSpPr>
        <p:spPr>
          <a:xfrm>
            <a:off x="617256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101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02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93"/>
          <p:cNvSpPr/>
          <p:nvPr/>
        </p:nvSpPr>
        <p:spPr>
          <a:xfrm>
            <a:off x="3337920" y="141768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94"/>
          <p:cNvSpPr/>
          <p:nvPr/>
        </p:nvSpPr>
        <p:spPr>
          <a:xfrm>
            <a:off x="333792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103"/>
          <p:cNvSpPr/>
          <p:nvPr/>
        </p:nvSpPr>
        <p:spPr>
          <a:xfrm>
            <a:off x="342936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78.3%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04"/>
          <p:cNvSpPr/>
          <p:nvPr/>
        </p:nvSpPr>
        <p:spPr>
          <a:xfrm>
            <a:off x="342936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95"/>
          <p:cNvSpPr/>
          <p:nvPr/>
        </p:nvSpPr>
        <p:spPr>
          <a:xfrm>
            <a:off x="9052920" y="1417680"/>
            <a:ext cx="265032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ectangle 96"/>
          <p:cNvSpPr/>
          <p:nvPr/>
        </p:nvSpPr>
        <p:spPr>
          <a:xfrm>
            <a:off x="621828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105"/>
          <p:cNvSpPr/>
          <p:nvPr/>
        </p:nvSpPr>
        <p:spPr>
          <a:xfrm>
            <a:off x="630972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52.8%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06"/>
          <p:cNvSpPr/>
          <p:nvPr/>
        </p:nvSpPr>
        <p:spPr>
          <a:xfrm>
            <a:off x="630972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97"/>
          <p:cNvSpPr/>
          <p:nvPr/>
        </p:nvSpPr>
        <p:spPr>
          <a:xfrm>
            <a:off x="9098640" y="141768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07"/>
          <p:cNvSpPr/>
          <p:nvPr/>
        </p:nvSpPr>
        <p:spPr>
          <a:xfrm>
            <a:off x="919008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37.1%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08"/>
          <p:cNvSpPr/>
          <p:nvPr/>
        </p:nvSpPr>
        <p:spPr>
          <a:xfrm>
            <a:off x="919008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@0.5:0.95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109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10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11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12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113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14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115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116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17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18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19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20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21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22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123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124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25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26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27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128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29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30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31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32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133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134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35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136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37"/>
          <p:cNvSpPr/>
          <p:nvPr/>
        </p:nvSpPr>
        <p:spPr>
          <a:xfrm>
            <a:off x="549000" y="155484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38"/>
          <p:cNvSpPr/>
          <p:nvPr/>
        </p:nvSpPr>
        <p:spPr>
          <a:xfrm>
            <a:off x="549000" y="242352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39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40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41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42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43"/>
          <p:cNvSpPr/>
          <p:nvPr/>
        </p:nvSpPr>
        <p:spPr>
          <a:xfrm>
            <a:off x="549720" y="155556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44"/>
          <p:cNvSpPr/>
          <p:nvPr/>
        </p:nvSpPr>
        <p:spPr>
          <a:xfrm>
            <a:off x="549720" y="242424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45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46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47"/>
          <p:cNvSpPr/>
          <p:nvPr/>
        </p:nvSpPr>
        <p:spPr>
          <a:xfrm>
            <a:off x="549720" y="155556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148"/>
          <p:cNvSpPr/>
          <p:nvPr/>
        </p:nvSpPr>
        <p:spPr>
          <a:xfrm>
            <a:off x="549720" y="242424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149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50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51"/>
          <p:cNvSpPr/>
          <p:nvPr/>
        </p:nvSpPr>
        <p:spPr>
          <a:xfrm>
            <a:off x="549720" y="155556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152"/>
          <p:cNvSpPr/>
          <p:nvPr/>
        </p:nvSpPr>
        <p:spPr>
          <a:xfrm>
            <a:off x="549720" y="242424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53"/>
          <p:cNvSpPr/>
          <p:nvPr/>
        </p:nvSpPr>
        <p:spPr>
          <a:xfrm>
            <a:off x="549360" y="155520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54"/>
          <p:cNvSpPr/>
          <p:nvPr/>
        </p:nvSpPr>
        <p:spPr>
          <a:xfrm>
            <a:off x="549360" y="242388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55"/>
          <p:cNvSpPr/>
          <p:nvPr/>
        </p:nvSpPr>
        <p:spPr>
          <a:xfrm>
            <a:off x="549720" y="1555560"/>
            <a:ext cx="24217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54.9%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56"/>
          <p:cNvSpPr/>
          <p:nvPr/>
        </p:nvSpPr>
        <p:spPr>
          <a:xfrm>
            <a:off x="549720" y="2424240"/>
            <a:ext cx="242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85"/>
          <p:cNvSpPr/>
          <p:nvPr/>
        </p:nvSpPr>
        <p:spPr>
          <a:xfrm>
            <a:off x="366840" y="356724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Rectangle 98"/>
          <p:cNvSpPr/>
          <p:nvPr/>
        </p:nvSpPr>
        <p:spPr>
          <a:xfrm>
            <a:off x="3200400" y="356760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Rectangle 100"/>
          <p:cNvSpPr/>
          <p:nvPr/>
        </p:nvSpPr>
        <p:spPr>
          <a:xfrm>
            <a:off x="6026040" y="356724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Rectangle 101"/>
          <p:cNvSpPr/>
          <p:nvPr/>
        </p:nvSpPr>
        <p:spPr>
          <a:xfrm>
            <a:off x="8915400" y="3567240"/>
            <a:ext cx="2604600" cy="1461600"/>
          </a:xfrm>
          <a:prstGeom prst="rect">
            <a:avLst/>
          </a:prstGeom>
          <a:solidFill>
            <a:srgbClr val="0d25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Rectangle 102"/>
          <p:cNvSpPr/>
          <p:nvPr/>
        </p:nvSpPr>
        <p:spPr>
          <a:xfrm>
            <a:off x="6026040" y="356724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Rectangle 99"/>
          <p:cNvSpPr/>
          <p:nvPr/>
        </p:nvSpPr>
        <p:spPr>
          <a:xfrm>
            <a:off x="8915400" y="356724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Rectangle 103"/>
          <p:cNvSpPr/>
          <p:nvPr/>
        </p:nvSpPr>
        <p:spPr>
          <a:xfrm>
            <a:off x="3200400" y="356760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Rectangle 104"/>
          <p:cNvSpPr/>
          <p:nvPr/>
        </p:nvSpPr>
        <p:spPr>
          <a:xfrm>
            <a:off x="366840" y="3567240"/>
            <a:ext cx="2604600" cy="71640"/>
          </a:xfrm>
          <a:prstGeom prst="rect">
            <a:avLst/>
          </a:prstGeom>
          <a:solidFill>
            <a:srgbClr val="009e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"/>
          <p:cNvSpPr/>
          <p:nvPr/>
        </p:nvSpPr>
        <p:spPr>
          <a:xfrm>
            <a:off x="914400" y="3822840"/>
            <a:ext cx="15822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33%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3657600" y="3886200"/>
            <a:ext cx="15822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58.8%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400800" y="3886200"/>
            <a:ext cx="15822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33.9%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9390240" y="3886200"/>
            <a:ext cx="15822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8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13.3%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914400" y="4572000"/>
            <a:ext cx="13734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 IoU=0.50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3657600" y="4572000"/>
            <a:ext cx="13734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6858000" y="4572000"/>
            <a:ext cx="59832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Recall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9500760" y="4635360"/>
            <a:ext cx="12430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MAP @0.5:0.95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1"/>
          <p:cNvSpPr/>
          <p:nvPr/>
        </p:nvSpPr>
        <p:spPr>
          <a:xfrm>
            <a:off x="0" y="0"/>
            <a:ext cx="163080" cy="685656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Rectangle 2"/>
          <p:cNvSpPr/>
          <p:nvPr/>
        </p:nvSpPr>
        <p:spPr>
          <a:xfrm>
            <a:off x="0" y="6309360"/>
            <a:ext cx="12187440" cy="547200"/>
          </a:xfrm>
          <a:prstGeom prst="rect">
            <a:avLst/>
          </a:prstGeom>
          <a:solidFill>
            <a:srgbClr val="125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3"/>
          <p:cNvSpPr/>
          <p:nvPr/>
        </p:nvSpPr>
        <p:spPr>
          <a:xfrm>
            <a:off x="411480" y="201240"/>
            <a:ext cx="1097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 &amp; Future Work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4"/>
          <p:cNvSpPr/>
          <p:nvPr/>
        </p:nvSpPr>
        <p:spPr>
          <a:xfrm>
            <a:off x="411480" y="841320"/>
            <a:ext cx="9142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9ea6"/>
                </a:solidFill>
                <a:effectLst/>
                <a:uFillTx/>
                <a:latin typeface="Calibri"/>
              </a:rPr>
              <a:t>Summary of contributions and roadmap ahead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5"/>
          <p:cNvSpPr/>
          <p:nvPr/>
        </p:nvSpPr>
        <p:spPr>
          <a:xfrm>
            <a:off x="411480" y="1389960"/>
            <a:ext cx="7313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a623"/>
                </a:solidFill>
                <a:effectLst/>
                <a:uFillTx/>
                <a:latin typeface="Calibri"/>
              </a:rPr>
              <a:t>Key Achievements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6"/>
          <p:cNvSpPr/>
          <p:nvPr/>
        </p:nvSpPr>
        <p:spPr>
          <a:xfrm>
            <a:off x="411480" y="1736640"/>
            <a:ext cx="364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7"/>
          <p:cNvSpPr/>
          <p:nvPr/>
        </p:nvSpPr>
        <p:spPr>
          <a:xfrm>
            <a:off x="1143720" y="1901880"/>
            <a:ext cx="10514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Achieved 54.9% mAP on DOTA v1.0 for bridge detection over water bodies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9"/>
          <p:cNvSpPr/>
          <p:nvPr/>
        </p:nvSpPr>
        <p:spPr>
          <a:xfrm>
            <a:off x="1143720" y="2468880"/>
            <a:ext cx="10514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Built end-to-end pipeline.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10"/>
          <p:cNvSpPr/>
          <p:nvPr/>
        </p:nvSpPr>
        <p:spPr>
          <a:xfrm>
            <a:off x="411480" y="2980800"/>
            <a:ext cx="364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1"/>
          <p:cNvSpPr/>
          <p:nvPr/>
        </p:nvSpPr>
        <p:spPr>
          <a:xfrm>
            <a:off x="1143720" y="2971800"/>
            <a:ext cx="10514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Demonstrated real-time inference at 67 FPS on NVIDIA RTX 3060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3"/>
          <p:cNvSpPr/>
          <p:nvPr/>
        </p:nvSpPr>
        <p:spPr>
          <a:xfrm>
            <a:off x="1143720" y="3602880"/>
            <a:ext cx="10514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cdeef"/>
                </a:solidFill>
                <a:effectLst/>
                <a:uFillTx/>
                <a:latin typeface="Calibri"/>
              </a:rPr>
              <a:t>Water masking reduced false positives by ~34% vs baseline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14"/>
          <p:cNvSpPr/>
          <p:nvPr/>
        </p:nvSpPr>
        <p:spPr>
          <a:xfrm>
            <a:off x="411480" y="4279320"/>
            <a:ext cx="11337120" cy="1827360"/>
          </a:xfrm>
          <a:prstGeom prst="rect">
            <a:avLst/>
          </a:prstGeom>
          <a:solidFill>
            <a:srgbClr val="0c22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Rectangle 15"/>
          <p:cNvSpPr/>
          <p:nvPr/>
        </p:nvSpPr>
        <p:spPr>
          <a:xfrm>
            <a:off x="411480" y="4279320"/>
            <a:ext cx="11337120" cy="345960"/>
          </a:xfrm>
          <a:prstGeom prst="rect">
            <a:avLst/>
          </a:prstGeom>
          <a:solidFill>
            <a:srgbClr val="0d4e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16"/>
          <p:cNvSpPr/>
          <p:nvPr/>
        </p:nvSpPr>
        <p:spPr>
          <a:xfrm>
            <a:off x="594360" y="4316040"/>
            <a:ext cx="54849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🔭  Future Directions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17"/>
          <p:cNvSpPr/>
          <p:nvPr/>
        </p:nvSpPr>
        <p:spPr>
          <a:xfrm>
            <a:off x="594360" y="4709160"/>
            <a:ext cx="54849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→  Multi-class extension: tunnels, overpasses, underpasses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18"/>
          <p:cNvSpPr/>
          <p:nvPr/>
        </p:nvSpPr>
        <p:spPr>
          <a:xfrm>
            <a:off x="6263640" y="4709160"/>
            <a:ext cx="54849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→  Temporal change detection using multi-date imagery pairs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19"/>
          <p:cNvSpPr/>
          <p:nvPr/>
        </p:nvSpPr>
        <p:spPr>
          <a:xfrm>
            <a:off x="594360" y="5276160"/>
            <a:ext cx="54849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→  Two Staged Water Body Conditioned Detection using (SegFormer-80.etc)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20"/>
          <p:cNvSpPr/>
          <p:nvPr/>
        </p:nvSpPr>
        <p:spPr>
          <a:xfrm>
            <a:off x="6263640" y="5276160"/>
            <a:ext cx="54849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9abed8"/>
                </a:solidFill>
                <a:effectLst/>
                <a:uFillTx/>
                <a:latin typeface="Calibri"/>
              </a:rPr>
              <a:t>→  Supplementary Dataset Integration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21"/>
          <p:cNvSpPr/>
          <p:nvPr/>
        </p:nvSpPr>
        <p:spPr>
          <a:xfrm>
            <a:off x="411480" y="6327720"/>
            <a:ext cx="11428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f4fd"/>
                </a:solidFill>
                <a:effectLst/>
                <a:uFillTx/>
                <a:latin typeface="Calibri"/>
              </a:rPr>
              <a:t>Thank You  ·  Questions Welcome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554760" y="2468880"/>
            <a:ext cx="358920" cy="35892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554760" y="3602880"/>
            <a:ext cx="358920" cy="35892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588240" y="3035880"/>
            <a:ext cx="358920" cy="35892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554760" y="1901880"/>
            <a:ext cx="358920" cy="35892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LibreOffice/25.8.6.2$Linux_X86_64 LibreOffice_project/a46b460d1686bb49c718d2ef5f88b83ff2dc4981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2026-04-21T02:00:23Z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